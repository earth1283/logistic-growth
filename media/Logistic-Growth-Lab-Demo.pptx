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Logistic Growth Lab is an interactive teaching model of dN/dt = rN(1-N/K), built with React and SVG. Live at earth1283.github.io/logistic-growth.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equation. K/2 is the inflection point (fastest growth); K is the stable equilibrium. The chart on the right is a live screenshot of the app, not a mockup.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core capabilities: live parameter tuning, animated playback, mid-simulation disturbances, and the analysis panels that explain the math.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Animated GIF of the live app. Plays back automatically in PowerPoint slideshow mode on most platforms; falls back to a static first frame if the viewer does not animate embedded GIFs.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disturbance types. The chart shows a live "Add migrants" spike that overshoots K then relaxes back down exponentially, at rate 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habitat panel makes crowding tangible: population share of K drives a real-time dot-fill visualization, not just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Growth rate peaks exactly at K/2 (the inflection point) and falls to zero at K, where births balance deaths — that negative feedback is what makes K a stable equilibrium.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 adapts via prefers-color-scheme; every chart color token is redefined for dark mode, not just inverted.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backend: static React/Vite build deployed to GitHub Pages, with content-hashed cache busting described in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CTA. Live deployment confirmed reachable at earth1283.github.io/logistic-growth; repo is Earth1283/logistic-growth on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184708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06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MODEL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0" y="2212848"/>
            <a:ext cx="12191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Growth Lab</a:t>
            </a:r>
            <a:endParaRPr lang="en-US" sz="5600" dirty="0"/>
          </a:p>
        </p:txBody>
      </p:sp>
      <p:sp>
        <p:nvSpPr>
          <p:cNvPr id="5" name="Shape 2"/>
          <p:cNvSpPr/>
          <p:nvPr/>
        </p:nvSpPr>
        <p:spPr>
          <a:xfrm>
            <a:off x="3703320" y="3611880"/>
            <a:ext cx="4782312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889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3703320" y="3611880"/>
            <a:ext cx="4782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19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</a:t>
            </a:r>
            <a:pPr algn="ctr" indent="0" marL="0">
              <a:buNone/>
            </a:pPr>
            <a:r>
              <a:rPr lang="en-US" sz="3000" i="1" dirty="0">
                <a:solidFill>
                  <a:srgbClr val="19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</a:t>
            </a:r>
            <a:pPr algn="ctr" indent="0" marL="0">
              <a:buNone/>
            </a:pPr>
            <a:r>
              <a:rPr lang="en-US" sz="3000" i="1" dirty="0">
                <a:solidFill>
                  <a:srgbClr val="19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</a:t>
            </a:r>
            <a:pPr algn="ctr" indent="0" marL="0">
              <a:buNone/>
            </a:pPr>
            <a:r>
              <a:rPr lang="en-US" sz="3000" i="1" dirty="0">
                <a:solidFill>
                  <a:srgbClr val="19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r</a:t>
            </a:r>
            <a:pPr algn="ctr" indent="0" marL="0">
              <a:buNone/>
            </a:pPr>
            <a:r>
              <a:rPr lang="en-US" sz="3000" i="1" dirty="0">
                <a:solidFill>
                  <a:srgbClr val="5B3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algn="ctr" indent="0" marL="0">
              <a:buNone/>
            </a:pPr>
            <a:r>
              <a:rPr lang="en-US" sz="3000" i="1" dirty="0">
                <a:solidFill>
                  <a:srgbClr val="19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( 1 − </a:t>
            </a:r>
            <a:pPr algn="ctr" indent="0" marL="0">
              <a:buNone/>
            </a:pPr>
            <a:r>
              <a:rPr lang="en-US" sz="3000" i="1" dirty="0">
                <a:solidFill>
                  <a:srgbClr val="5B3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algn="ctr" indent="0" marL="0">
              <a:buNone/>
            </a:pPr>
            <a:r>
              <a:rPr lang="en-US" sz="3000" i="1" dirty="0">
                <a:solidFill>
                  <a:srgbClr val="19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</a:t>
            </a:r>
            <a:pPr algn="ctr" indent="0" marL="0">
              <a:buNone/>
            </a:pPr>
            <a:r>
              <a:rPr lang="en-US" sz="3000" i="1" dirty="0">
                <a:solidFill>
                  <a:srgbClr val="C2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algn="ctr" indent="0" marL="0">
              <a:buNone/>
            </a:pPr>
            <a:r>
              <a:rPr lang="en-US" sz="3000" i="1" dirty="0">
                <a:solidFill>
                  <a:srgbClr val="19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)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0" y="4864608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population dynamics into something you can feel.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0" y="63550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F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 ·   SVG   ·   OPEN SOURCE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 behind the curve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5349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population wants to grow exponentially. But space, food, and shelter put a ceiling on it. The logistic equation captures both forces at once — reproduction pulling up, crowding pulling back down.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EFEC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392424"/>
            <a:ext cx="2514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B3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⁄ 2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2062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size where growth is fastest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324612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FEC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3392424"/>
            <a:ext cx="2651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2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population settles, permanently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9834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numbers fall straight out of one equation — no extra assumptions, no lookup table.</a:t>
            </a:r>
            <a:endParaRPr lang="en-US" sz="1200" dirty="0"/>
          </a:p>
        </p:txBody>
      </p:sp>
      <p:pic>
        <p:nvPicPr>
          <p:cNvPr id="11" name="Image 0" descr="assets/chart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777240"/>
            <a:ext cx="4983480" cy="5362617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19202B">
                <a:alpha val="18000"/>
              </a:srgbClr>
            </a:outerShdw>
          </a:effectLst>
        </p:spPr>
      </p:pic>
      <p:sp>
        <p:nvSpPr>
          <p:cNvPr id="12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can 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 updates the simulation in real time — nothing to submit, nothing to wait for.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48640" cy="548640"/>
          </a:xfrm>
          <a:prstGeom prst="ellipse">
            <a:avLst/>
          </a:prstGeom>
          <a:solidFill>
            <a:srgbClr val="EFECF6"/>
          </a:solidFill>
          <a:ln/>
        </p:spPr>
      </p:sp>
      <p:pic>
        <p:nvPicPr>
          <p:cNvPr id="5" name="Image 0" descr="assets/icons/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29514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89888" y="2093976"/>
            <a:ext cx="4462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model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89888" y="2414016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carrying capacity, growth rate, and starting population — the curve redraws instantly.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55080" y="2148840"/>
            <a:ext cx="548640" cy="548640"/>
          </a:xfrm>
          <a:prstGeom prst="ellipse">
            <a:avLst/>
          </a:prstGeom>
          <a:solidFill>
            <a:srgbClr val="EFECF6"/>
          </a:solidFill>
          <a:ln/>
        </p:spPr>
      </p:sp>
      <p:pic>
        <p:nvPicPr>
          <p:cNvPr id="9" name="Image 1" descr="assets/icons/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229514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04888" y="2093976"/>
            <a:ext cx="4462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unfold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104888" y="2414016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play and the S curve animates from day zero out to your chosen time window.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rgbClr val="EFECF6"/>
          </a:solidFill>
          <a:ln/>
        </p:spPr>
      </p:sp>
      <p:pic>
        <p:nvPicPr>
          <p:cNvPr id="13" name="Image 2" descr="assets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30682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89888" y="4105656"/>
            <a:ext cx="4462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 it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389888" y="4425696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Harvest, add migrants, shrink or restore the habitat — mid-simulation, on any day.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355080" y="4160520"/>
            <a:ext cx="548640" cy="548640"/>
          </a:xfrm>
          <a:prstGeom prst="ellipse">
            <a:avLst/>
          </a:prstGeom>
          <a:solidFill>
            <a:srgbClr val="EFECF6"/>
          </a:solidFill>
          <a:ln/>
        </p:spPr>
      </p:sp>
      <p:pic>
        <p:nvPicPr>
          <p:cNvPr id="17" name="Image 3" descr="assets/icons/bar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430682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04888" y="4105656"/>
            <a:ext cx="4462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why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7104888" y="4425696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extra panels chart growth rate and per-capita growth against population size.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6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 play.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1460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slider, every button, every disturbance updates the simulation instantly. This is a recording of the actual app — not a mockup.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976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F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carrying capacity increase, a growth-rate change, and an "Add migrants" disturbance — all in one continuous take.</a:t>
            </a:r>
            <a:endParaRPr lang="en-US" sz="1200" dirty="0"/>
          </a:p>
        </p:txBody>
      </p:sp>
      <p:pic>
        <p:nvPicPr>
          <p:cNvPr id="6" name="Image 0" descr="gifs/hero_interaction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589497"/>
            <a:ext cx="6537960" cy="3679005"/>
          </a:xfrm>
          <a:prstGeom prst="rect">
            <a:avLst/>
          </a:prstGeom>
          <a:effectLst>
            <a:outerShdw sx="100000" sy="100000" kx="0" ky="0" algn="bl" rotWithShape="0" blurRad="279400" dist="101600" dir="5400000">
              <a:srgbClr val="000000">
                <a:alpha val="4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Disturb it — and watch it recover</a:t>
            </a:r>
            <a:endParaRPr lang="en-US" sz="3000" dirty="0"/>
          </a:p>
        </p:txBody>
      </p:sp>
      <p:pic>
        <p:nvPicPr>
          <p:cNvPr id="3" name="Image 0" descr="assets/chart_card_distur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4846320" cy="5215022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19202B">
                <a:alpha val="18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06440" y="1508760"/>
            <a:ext cx="2971800" cy="2331720"/>
          </a:xfrm>
          <a:prstGeom prst="roundRect">
            <a:avLst>
              <a:gd name="adj" fmla="val 3922"/>
            </a:avLst>
          </a:prstGeom>
          <a:solidFill>
            <a:srgbClr val="EFECF6"/>
          </a:solidFill>
          <a:ln/>
        </p:spPr>
      </p:sp>
      <p:sp>
        <p:nvSpPr>
          <p:cNvPr id="5" name="Shape 2"/>
          <p:cNvSpPr/>
          <p:nvPr/>
        </p:nvSpPr>
        <p:spPr>
          <a:xfrm>
            <a:off x="6035040" y="173736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1" descr="assets/icons/trending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4" y="1883664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350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60%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035040" y="26700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60% of the population instantly, then tracks the recovery.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8915400" y="1508760"/>
            <a:ext cx="2971800" cy="2331720"/>
          </a:xfrm>
          <a:prstGeom prst="roundRect">
            <a:avLst>
              <a:gd name="adj" fmla="val 3922"/>
            </a:avLst>
          </a:prstGeom>
          <a:solidFill>
            <a:srgbClr val="EFECF6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0" y="173736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2" descr="assets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4" y="188366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14400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migrants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144000" y="26700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new individuals — the population can even overshoot K.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806440" y="3977640"/>
            <a:ext cx="2971800" cy="2331720"/>
          </a:xfrm>
          <a:prstGeom prst="roundRect">
            <a:avLst>
              <a:gd name="adj" fmla="val 3922"/>
            </a:avLst>
          </a:prstGeom>
          <a:solidFill>
            <a:srgbClr val="EFECF6"/>
          </a:solidFill>
          <a:ln/>
        </p:spPr>
      </p:sp>
      <p:sp>
        <p:nvSpPr>
          <p:cNvPr id="15" name="Shape 10"/>
          <p:cNvSpPr/>
          <p:nvPr/>
        </p:nvSpPr>
        <p:spPr>
          <a:xfrm>
            <a:off x="6035040" y="420624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3" descr="assets/icons/minimiz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4352544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035040" y="4800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habitat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035040" y="513892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carrying capacity; the population declines to the new limit.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8915400" y="3977640"/>
            <a:ext cx="2971800" cy="2331720"/>
          </a:xfrm>
          <a:prstGeom prst="roundRect">
            <a:avLst>
              <a:gd name="adj" fmla="val 3922"/>
            </a:avLst>
          </a:prstGeom>
          <a:solidFill>
            <a:srgbClr val="EFECF6"/>
          </a:solidFill>
          <a:ln/>
        </p:spPr>
      </p:sp>
      <p:sp>
        <p:nvSpPr>
          <p:cNvPr id="20" name="Shape 14"/>
          <p:cNvSpPr/>
          <p:nvPr/>
        </p:nvSpPr>
        <p:spPr>
          <a:xfrm>
            <a:off x="9144000" y="420624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4" descr="assets/icons/refreshc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4" y="4352544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144000" y="4800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habitat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9144000" y="513892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K to its original value; the population climbs back.</a:t>
            </a:r>
            <a:endParaRPr lang="en-US" sz="1150" dirty="0"/>
          </a:p>
        </p:txBody>
      </p:sp>
      <p:sp>
        <p:nvSpPr>
          <p:cNvPr id="24" name="Text 1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ifs/plate_fill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34440"/>
            <a:ext cx="2908761" cy="4846320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19202B">
                <a:alpha val="18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4709160" y="777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habitat you can see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709160" y="15544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one individual. The dashed ring marks exactly how many the habitat can support — so crowding isn’t an abstraction, it’s a shape filling in.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709160" y="2880360"/>
            <a:ext cx="548640" cy="548640"/>
          </a:xfrm>
          <a:prstGeom prst="ellipse">
            <a:avLst/>
          </a:prstGeom>
          <a:solidFill>
            <a:srgbClr val="EFECF6"/>
          </a:solidFill>
          <a:ln/>
        </p:spPr>
      </p:sp>
      <p:pic>
        <p:nvPicPr>
          <p:cNvPr id="6" name="Image 1" descr="assets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3026664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58968" y="2825496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458968" y="3145536"/>
            <a:ext cx="5833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individuals exist right now.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709160" y="3749040"/>
            <a:ext cx="548640" cy="548640"/>
          </a:xfrm>
          <a:prstGeom prst="ellipse">
            <a:avLst/>
          </a:prstGeom>
          <a:solidFill>
            <a:srgbClr val="EFECF6"/>
          </a:solidFill>
          <a:ln/>
        </p:spPr>
      </p:sp>
      <p:pic>
        <p:nvPicPr>
          <p:cNvPr id="10" name="Image 2" descr="assets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389534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58968" y="3694176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K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58968" y="4014216"/>
            <a:ext cx="5833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full the habitat is, as a percentage.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709160" y="4617720"/>
            <a:ext cx="548640" cy="548640"/>
          </a:xfrm>
          <a:prstGeom prst="ellipse">
            <a:avLst/>
          </a:prstGeom>
          <a:solidFill>
            <a:srgbClr val="EFECF6"/>
          </a:solidFill>
          <a:ln/>
        </p:spPr>
      </p:sp>
      <p:pic>
        <p:nvPicPr>
          <p:cNvPr id="14" name="Image 3" descr="assets/icons/bar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476402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458968" y="4562856"/>
            <a:ext cx="5833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change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5458968" y="4882896"/>
            <a:ext cx="5833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births minus deaths, updated every frame.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growth stops at </a:t>
            </a:r>
            <a:pPr indent="0" marL="0">
              <a:buNone/>
            </a:pPr>
            <a:r>
              <a:rPr lang="en-US" sz="3000" b="1" i="1" dirty="0">
                <a:solidFill>
                  <a:srgbClr val="C2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3000" dirty="0"/>
          </a:p>
        </p:txBody>
      </p:sp>
      <p:pic>
        <p:nvPicPr>
          <p:cNvPr id="3" name="Image 0" descr="assets/rate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5303520" cy="3310768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19202B">
                <a:alpha val="18000"/>
              </a:srgbClr>
            </a:outerShdw>
          </a:effectLst>
        </p:spPr>
      </p:pic>
      <p:pic>
        <p:nvPicPr>
          <p:cNvPr id="4" name="Image 1" descr="assets/percapita_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88720"/>
            <a:ext cx="5303520" cy="3310768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19202B">
                <a:alpha val="18000"/>
              </a:srgbClr>
            </a:outerShdw>
          </a:effectLst>
        </p:spPr>
      </p:pic>
      <p:sp>
        <p:nvSpPr>
          <p:cNvPr id="5" name="Shape 1"/>
          <p:cNvSpPr/>
          <p:nvPr/>
        </p:nvSpPr>
        <p:spPr>
          <a:xfrm>
            <a:off x="640080" y="489204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EFECF6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40080" y="5038344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B3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+52.5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56235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 — the peak growth rate, rK/4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4389120" y="489204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EFECF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4389120" y="5038344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2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⁄ 2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4526280" y="56235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size where growth is fastest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138160" y="489204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EFECF6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138160" y="5038344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B3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8275320" y="56235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growth per individual once N reaches K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502920"/>
            <a:ext cx="12191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9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Looks right, day or night.</a:t>
            </a:r>
            <a:endParaRPr lang="en-US" sz="3200" dirty="0"/>
          </a:p>
        </p:txBody>
      </p:sp>
      <p:pic>
        <p:nvPicPr>
          <p:cNvPr id="3" name="Image 0" descr="shots/her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5166360" cy="2906041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19202B">
                <a:alpha val="18000"/>
              </a:srgbClr>
            </a:outerShdw>
          </a:effectLst>
        </p:spPr>
      </p:pic>
      <p:pic>
        <p:nvPicPr>
          <p:cNvPr id="4" name="Image 1" descr="shots/her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508760"/>
            <a:ext cx="5166360" cy="2906041"/>
          </a:xfrm>
          <a:prstGeom prst="rect">
            <a:avLst/>
          </a:prstGeom>
          <a:effectLst>
            <a:outerShdw sx="100000" sy="100000" kx="0" ky="0" algn="bl" rotWithShape="0" blurRad="177800" dist="63500" dir="5400000">
              <a:srgbClr val="19202B">
                <a:alpha val="18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685800" y="4524529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6336792" y="4524529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your system theme automatically — no toggle required.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fast stack — no backend, no build-step surprises.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729588" y="2148840"/>
            <a:ext cx="914400" cy="914400"/>
          </a:xfrm>
          <a:prstGeom prst="ellipse">
            <a:avLst/>
          </a:prstGeom>
          <a:solidFill>
            <a:srgbClr val="EFECF6"/>
          </a:solidFill>
          <a:ln/>
        </p:spPr>
      </p:sp>
      <p:pic>
        <p:nvPicPr>
          <p:cNvPr id="5" name="Image 0" descr="assets/icons/re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7332" y="23865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83768" y="3227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20928" y="3566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Component-driven UI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35628" y="2148840"/>
            <a:ext cx="914400" cy="914400"/>
          </a:xfrm>
          <a:prstGeom prst="ellipse">
            <a:avLst/>
          </a:prstGeom>
          <a:solidFill>
            <a:srgbClr val="EFECF6"/>
          </a:solidFill>
          <a:ln/>
        </p:spPr>
      </p:sp>
      <p:pic>
        <p:nvPicPr>
          <p:cNvPr id="9" name="Image 1" descr="assets/icons/v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372" y="238658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89808" y="3227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3626968" y="3566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dev server, hashed builds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941668" y="2148840"/>
            <a:ext cx="914400" cy="914400"/>
          </a:xfrm>
          <a:prstGeom prst="ellipse">
            <a:avLst/>
          </a:prstGeom>
          <a:solidFill>
            <a:srgbClr val="EFECF6"/>
          </a:solidFill>
          <a:ln/>
        </p:spPr>
      </p:sp>
      <p:pic>
        <p:nvPicPr>
          <p:cNvPr id="13" name="Image 2" descr="assets/icons/sv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412" y="2386584"/>
            <a:ext cx="438912" cy="4389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095848" y="3227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233008" y="3566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is real, resizable vector art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547708" y="2148840"/>
            <a:ext cx="914400" cy="914400"/>
          </a:xfrm>
          <a:prstGeom prst="ellipse">
            <a:avLst/>
          </a:prstGeom>
          <a:solidFill>
            <a:srgbClr val="EFECF6"/>
          </a:solidFill>
          <a:ln/>
        </p:spPr>
      </p:sp>
      <p:pic>
        <p:nvPicPr>
          <p:cNvPr id="17" name="Image 3" descr="assets/icons/githubpag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5452" y="2386584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701888" y="3227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8839048" y="3566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hosting, zero servers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14400" y="4709160"/>
            <a:ext cx="10360152" cy="1051560"/>
          </a:xfrm>
          <a:prstGeom prst="roundRect">
            <a:avLst>
              <a:gd name="adj" fmla="val 8696"/>
            </a:avLst>
          </a:prstGeom>
          <a:solidFill>
            <a:srgbClr val="EFECF6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1234440" y="4709160"/>
            <a:ext cx="9720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9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Content-hashed assets ship with a one-year immutable cache; index.html always revalidates — so visitors get the latest build without ever seeing a stale one.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105156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limit yourself.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0" y="18745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open, and runs entirely in your browser.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261208" y="2606040"/>
            <a:ext cx="5669280" cy="749808"/>
          </a:xfrm>
          <a:prstGeom prst="roundRect">
            <a:avLst>
              <a:gd name="adj" fmla="val 50000"/>
            </a:avLst>
          </a:prstGeom>
          <a:solidFill>
            <a:srgbClr val="5B3FA6"/>
          </a:solidFill>
          <a:ln/>
          <a:effectLst>
            <a:outerShdw sx="100000" sy="100000" kx="0" ky="0" algn="bl" rotWithShape="0" blurRad="203200" dist="635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3261208" y="260604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earth1283.github.io/logistic-growth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250028" y="3657600"/>
            <a:ext cx="16916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000000">
                <a:alpha val="30000"/>
              </a:srgbClr>
            </a:outerShdw>
          </a:effectLst>
        </p:spPr>
      </p:sp>
      <p:pic>
        <p:nvPicPr>
          <p:cNvPr id="8" name="Image 1" descr="assets/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188" y="3794760"/>
            <a:ext cx="1417320" cy="1417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0" y="52578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open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0" y="63550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6F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&amp; SVG  ·  open source on GitHub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 Growth Lab — Interactive Model Demo</dc:title>
  <dc:subject>PptxGenJS Presentation</dc:subject>
  <dc:creator>Logistic Growth Lab</dc:creator>
  <cp:lastModifiedBy>Logistic Growth Lab</cp:lastModifiedBy>
  <cp:revision>1</cp:revision>
  <dcterms:created xsi:type="dcterms:W3CDTF">2026-09-28T06:43:00Z</dcterms:created>
  <dcterms:modified xsi:type="dcterms:W3CDTF">2026-09-28T06:43:00Z</dcterms:modified>
</cp:coreProperties>
</file>